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6" autoAdjust="0"/>
    <p:restoredTop sz="94660"/>
  </p:normalViewPr>
  <p:slideViewPr>
    <p:cSldViewPr snapToGrid="0">
      <p:cViewPr varScale="1">
        <p:scale>
          <a:sx n="158" d="100"/>
          <a:sy n="158" d="100"/>
        </p:scale>
        <p:origin x="26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4854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048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766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801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0162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9733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4490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8439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8052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9401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513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9359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2" r:id="rId6"/>
    <p:sldLayoutId id="2147483688" r:id="rId7"/>
    <p:sldLayoutId id="2147483689" r:id="rId8"/>
    <p:sldLayoutId id="2147483690" r:id="rId9"/>
    <p:sldLayoutId id="2147483691" r:id="rId10"/>
    <p:sldLayoutId id="2147483693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EECA69B-4C2A-7F31-8019-E90DB3BD4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D2EF95-4A79-CBB9-3A55-F6F167FCA47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57DEAC1-B3AA-6569-0A44-A191DF2F3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7840"/>
            <a:ext cx="12191999" cy="1280160"/>
          </a:xfrm>
          <a:prstGeom prst="rect">
            <a:avLst/>
          </a:prstGeom>
          <a:solidFill>
            <a:schemeClr val="bg1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80A36C-A202-4161-9EF0-4BDEA4BA6D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97781" y="2948940"/>
            <a:ext cx="8196431" cy="960120"/>
          </a:xfrm>
          <a:ln>
            <a:noFill/>
          </a:ln>
        </p:spPr>
        <p:txBody>
          <a:bodyPr anchor="ctr">
            <a:normAutofit/>
          </a:bodyPr>
          <a:lstStyle/>
          <a:p>
            <a:pPr algn="ctr"/>
            <a:r>
              <a:rPr lang="en-US" sz="4400" dirty="0"/>
              <a:t>Project Proposal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A84C99-7BA7-188D-7E77-02264518F2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99607" y="3995783"/>
            <a:ext cx="3392781" cy="960120"/>
          </a:xfrm>
        </p:spPr>
        <p:txBody>
          <a:bodyPr anchor="ctr">
            <a:normAutofit/>
          </a:bodyPr>
          <a:lstStyle/>
          <a:p>
            <a:pPr algn="ctr"/>
            <a:r>
              <a:rPr lang="en-US" sz="1900" dirty="0"/>
              <a:t>Kaplan Martinez [Tier 2]</a:t>
            </a:r>
          </a:p>
        </p:txBody>
      </p:sp>
    </p:spTree>
    <p:extLst>
      <p:ext uri="{BB962C8B-B14F-4D97-AF65-F5344CB8AC3E}">
        <p14:creationId xmlns:p14="http://schemas.microsoft.com/office/powerpoint/2010/main" val="28651324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228326-A7C9-9DD5-51B1-6443101E7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1AC6773-3EAF-C22C-F321-87EC7FD1EA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65EFEF-459D-A8E4-0EC4-39DA6EA3EB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82CC956-6AB7-1554-C98A-02ADFFFEDC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7840"/>
            <a:ext cx="12191999" cy="1280160"/>
          </a:xfrm>
          <a:prstGeom prst="rect">
            <a:avLst/>
          </a:prstGeom>
          <a:solidFill>
            <a:schemeClr val="bg1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296383-F3C5-B856-5002-736BF7CAC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97781" y="418567"/>
            <a:ext cx="8196431" cy="960120"/>
          </a:xfrm>
          <a:ln>
            <a:noFill/>
          </a:ln>
        </p:spPr>
        <p:txBody>
          <a:bodyPr anchor="ctr">
            <a:normAutofit/>
          </a:bodyPr>
          <a:lstStyle/>
          <a:p>
            <a:pPr algn="ctr"/>
            <a:r>
              <a:rPr lang="en-US" sz="4400" dirty="0"/>
              <a:t>The Problem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A30CE6-F2F0-6B71-F265-379CAFAAD8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382" y="1728094"/>
            <a:ext cx="11891228" cy="3927490"/>
          </a:xfrm>
        </p:spPr>
        <p:txBody>
          <a:bodyPr anchor="ctr">
            <a:normAutofit/>
          </a:bodyPr>
          <a:lstStyle/>
          <a:p>
            <a:r>
              <a:rPr lang="en-US" sz="1900" b="1" dirty="0"/>
              <a:t>What real world problem are we solving?</a:t>
            </a:r>
          </a:p>
          <a:p>
            <a:pPr marL="342900" indent="-342900">
              <a:buFontTx/>
              <a:buChar char="-"/>
            </a:pPr>
            <a:r>
              <a:rPr lang="en-US" sz="1900" dirty="0"/>
              <a:t>Logistics centers process thousands of packages an hour. Manual inspection for damage is slow, misses subtle tears or water damage, and leads to expensive insurance disputes.</a:t>
            </a:r>
          </a:p>
          <a:p>
            <a:endParaRPr lang="en-US" sz="1900" dirty="0"/>
          </a:p>
          <a:p>
            <a:r>
              <a:rPr lang="en-US" sz="1900" b="1" dirty="0"/>
              <a:t>Who cares?</a:t>
            </a:r>
          </a:p>
          <a:p>
            <a:pPr marL="342900" indent="-342900">
              <a:buFontTx/>
              <a:buChar char="-"/>
            </a:pPr>
            <a:r>
              <a:rPr lang="en-US" sz="1900" dirty="0"/>
              <a:t>Warehouse managers, insurance adjusters, and e-commerce giants.</a:t>
            </a:r>
          </a:p>
          <a:p>
            <a:endParaRPr lang="en-US" sz="1900" dirty="0"/>
          </a:p>
          <a:p>
            <a:r>
              <a:rPr lang="en-US" sz="1900" b="1" dirty="0"/>
              <a:t>Why is it important?</a:t>
            </a:r>
          </a:p>
          <a:p>
            <a:r>
              <a:rPr lang="en-US" sz="1900" dirty="0"/>
              <a:t>- Reduces "hidden" costs of shipping damaged goods and automates the liability documentation process.</a:t>
            </a:r>
          </a:p>
        </p:txBody>
      </p:sp>
    </p:spTree>
    <p:extLst>
      <p:ext uri="{BB962C8B-B14F-4D97-AF65-F5344CB8AC3E}">
        <p14:creationId xmlns:p14="http://schemas.microsoft.com/office/powerpoint/2010/main" val="11664461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C8E358-4A18-AEE9-6A87-8C6843084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D66BCE3-8C3B-1206-C32F-5DA23311DA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A93CDE-8C79-039E-3826-3401AE249B5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8425B35-4F37-D1DD-6F70-7F9318412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7840"/>
            <a:ext cx="12191999" cy="1280160"/>
          </a:xfrm>
          <a:prstGeom prst="rect">
            <a:avLst/>
          </a:prstGeom>
          <a:solidFill>
            <a:schemeClr val="bg1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3D657-9871-1605-5F2E-C41678EE5A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97781" y="418567"/>
            <a:ext cx="8196431" cy="960120"/>
          </a:xfrm>
          <a:ln>
            <a:noFill/>
          </a:ln>
        </p:spPr>
        <p:txBody>
          <a:bodyPr anchor="ctr">
            <a:normAutofit/>
          </a:bodyPr>
          <a:lstStyle/>
          <a:p>
            <a:pPr algn="ctr"/>
            <a:r>
              <a:rPr lang="en-US" sz="4400" dirty="0"/>
              <a:t>The Solution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F907B9-32BB-0F57-3AD4-FABEC9C554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9184" y="1679217"/>
            <a:ext cx="11657593" cy="2904867"/>
          </a:xfrm>
        </p:spPr>
        <p:txBody>
          <a:bodyPr anchor="ctr">
            <a:normAutofit/>
          </a:bodyPr>
          <a:lstStyle/>
          <a:p>
            <a:r>
              <a:rPr lang="en-US" sz="1900" b="1" dirty="0"/>
              <a:t>How will it solve the problem / Sentence description?</a:t>
            </a:r>
          </a:p>
          <a:p>
            <a:pPr marL="342900" indent="-342900">
              <a:buFontTx/>
              <a:buChar char="-"/>
            </a:pPr>
            <a:r>
              <a:rPr lang="en-US" sz="1900" dirty="0"/>
              <a:t>An automated vision system that classifies packages as "Intact" or "Damaged" in real-time.</a:t>
            </a:r>
          </a:p>
          <a:p>
            <a:endParaRPr lang="en-US" sz="1900" dirty="0"/>
          </a:p>
          <a:p>
            <a:r>
              <a:rPr lang="en-US" sz="1900" b="1" dirty="0"/>
              <a:t>What will your system do?</a:t>
            </a:r>
          </a:p>
          <a:p>
            <a:r>
              <a:rPr lang="en-US" sz="1900" dirty="0"/>
              <a:t>- Camera captures box on belt → CNN analyzes surface textures → Flagged if damage detected → Logistics database updated.</a:t>
            </a:r>
          </a:p>
        </p:txBody>
      </p:sp>
    </p:spTree>
    <p:extLst>
      <p:ext uri="{BB962C8B-B14F-4D97-AF65-F5344CB8AC3E}">
        <p14:creationId xmlns:p14="http://schemas.microsoft.com/office/powerpoint/2010/main" val="32044161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1D989B-0E9B-D207-7EB4-CDA34B631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79E9BF3-137D-36CC-2B30-79270E00C8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C52FE1-129E-DA94-9794-CE0E5FABC6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F87ECBB6-4EBF-11F0-6D5F-F49CB45AB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7840"/>
            <a:ext cx="12191999" cy="1280160"/>
          </a:xfrm>
          <a:prstGeom prst="rect">
            <a:avLst/>
          </a:prstGeom>
          <a:solidFill>
            <a:schemeClr val="bg1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F6362F-A5AA-978A-E78D-6F99EB6311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97784" y="309551"/>
            <a:ext cx="8196431" cy="960120"/>
          </a:xfrm>
          <a:ln>
            <a:noFill/>
          </a:ln>
        </p:spPr>
        <p:txBody>
          <a:bodyPr anchor="ctr">
            <a:normAutofit/>
          </a:bodyPr>
          <a:lstStyle/>
          <a:p>
            <a:pPr algn="ctr"/>
            <a:r>
              <a:rPr lang="en-US" sz="4400" dirty="0"/>
              <a:t>Technical Approach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D80CC7-09FF-E04A-838F-4B05E90A0A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819" y="1325275"/>
            <a:ext cx="11919424" cy="5144003"/>
          </a:xfrm>
        </p:spPr>
        <p:txBody>
          <a:bodyPr anchor="ctr">
            <a:normAutofit lnSpcReduction="10000"/>
          </a:bodyPr>
          <a:lstStyle/>
          <a:p>
            <a:r>
              <a:rPr lang="en-US" sz="1900" b="1" dirty="0"/>
              <a:t>Computer vision Technique:</a:t>
            </a:r>
          </a:p>
          <a:p>
            <a:pPr marL="342900" indent="-342900">
              <a:buFontTx/>
              <a:buChar char="-"/>
            </a:pPr>
            <a:r>
              <a:rPr lang="en-US" sz="1900" dirty="0"/>
              <a:t>Image Classification (Binary: Damaged vs. Intact).</a:t>
            </a:r>
          </a:p>
          <a:p>
            <a:endParaRPr lang="en-US" sz="1900" dirty="0"/>
          </a:p>
          <a:p>
            <a:r>
              <a:rPr lang="en-US" sz="1900" b="1" dirty="0"/>
              <a:t>Model:</a:t>
            </a:r>
          </a:p>
          <a:p>
            <a:pPr marL="342900" indent="-342900">
              <a:buFontTx/>
              <a:buChar char="-"/>
            </a:pPr>
            <a:r>
              <a:rPr lang="en-US" sz="1900" dirty="0"/>
              <a:t>Custom CNN or ResNet-18</a:t>
            </a:r>
          </a:p>
          <a:p>
            <a:endParaRPr lang="en-US" sz="1900" dirty="0"/>
          </a:p>
          <a:p>
            <a:r>
              <a:rPr lang="en-US" sz="1900" b="1" dirty="0"/>
              <a:t>Framework:</a:t>
            </a:r>
          </a:p>
          <a:p>
            <a:pPr marL="342900" indent="-342900">
              <a:buFontTx/>
              <a:buChar char="-"/>
            </a:pPr>
            <a:r>
              <a:rPr lang="en-US" sz="1900" dirty="0" err="1"/>
              <a:t>PyTorch</a:t>
            </a:r>
            <a:endParaRPr lang="en-US" sz="1900" dirty="0"/>
          </a:p>
          <a:p>
            <a:endParaRPr lang="en-US" sz="1900" dirty="0"/>
          </a:p>
          <a:p>
            <a:r>
              <a:rPr lang="en-US" sz="1900" b="1" dirty="0"/>
              <a:t>Justification:</a:t>
            </a:r>
          </a:p>
          <a:p>
            <a:r>
              <a:rPr lang="en-US" sz="1900" dirty="0"/>
              <a:t>- CNNs are superior at detecting "irregular" spatial patterns like rips, crushed corners, and leaks compared to traditional SVMs.</a:t>
            </a:r>
          </a:p>
        </p:txBody>
      </p:sp>
    </p:spTree>
    <p:extLst>
      <p:ext uri="{BB962C8B-B14F-4D97-AF65-F5344CB8AC3E}">
        <p14:creationId xmlns:p14="http://schemas.microsoft.com/office/powerpoint/2010/main" val="2309930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AFAF4A-8ED8-E2CE-EAED-F7A49A769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0C65784-7664-EA27-F573-872C3ACCE4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C53BAA-F77B-F466-35A9-947AEEC9961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6E980776-C9B9-0829-4139-120736A0A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7840"/>
            <a:ext cx="12191999" cy="1280160"/>
          </a:xfrm>
          <a:prstGeom prst="rect">
            <a:avLst/>
          </a:prstGeom>
          <a:solidFill>
            <a:schemeClr val="bg1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D8F991-BA59-F5D7-4275-1D18B70089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97781" y="265241"/>
            <a:ext cx="8196431" cy="960120"/>
          </a:xfrm>
          <a:ln>
            <a:noFill/>
          </a:ln>
        </p:spPr>
        <p:txBody>
          <a:bodyPr anchor="ctr">
            <a:normAutofit/>
          </a:bodyPr>
          <a:lstStyle/>
          <a:p>
            <a:pPr algn="ctr"/>
            <a:r>
              <a:rPr lang="en-US" sz="4400" dirty="0"/>
              <a:t>Data Plan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FECCC2-FECB-3499-834B-58505F6689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3917" y="1225361"/>
            <a:ext cx="11621339" cy="5453384"/>
          </a:xfrm>
        </p:spPr>
        <p:txBody>
          <a:bodyPr anchor="ctr">
            <a:normAutofit/>
          </a:bodyPr>
          <a:lstStyle/>
          <a:p>
            <a:r>
              <a:rPr lang="en-US" sz="1900" b="1" dirty="0"/>
              <a:t>Source:</a:t>
            </a:r>
          </a:p>
          <a:p>
            <a:pPr marL="342900" indent="-342900">
              <a:buFontTx/>
              <a:buChar char="-"/>
            </a:pPr>
            <a:r>
              <a:rPr lang="en-US" sz="2000" dirty="0"/>
              <a:t>Public dataset from </a:t>
            </a:r>
            <a:r>
              <a:rPr lang="en-US" sz="2000" dirty="0" err="1"/>
              <a:t>Roboflow</a:t>
            </a:r>
            <a:r>
              <a:rPr lang="en-US" sz="2000" dirty="0"/>
              <a:t> or Kaggle. Most likely synthetic.</a:t>
            </a:r>
          </a:p>
          <a:p>
            <a:endParaRPr lang="en-US" sz="2000" dirty="0"/>
          </a:p>
          <a:p>
            <a:r>
              <a:rPr lang="en-US" sz="2000" b="1" dirty="0"/>
              <a:t>Size:</a:t>
            </a:r>
          </a:p>
          <a:p>
            <a:pPr marL="342900" indent="-342900">
              <a:buFontTx/>
              <a:buChar char="-"/>
            </a:pPr>
            <a:r>
              <a:rPr lang="en-US" sz="2000" dirty="0"/>
              <a:t>Aiming for ~1,500–2,000 images to ensure the model doesn't overfit.</a:t>
            </a:r>
          </a:p>
          <a:p>
            <a:endParaRPr lang="en-US" sz="2000" dirty="0"/>
          </a:p>
          <a:p>
            <a:r>
              <a:rPr lang="en-US" sz="2000" b="1" dirty="0"/>
              <a:t>Labels / Detection and Classification:</a:t>
            </a:r>
          </a:p>
          <a:p>
            <a:pPr marL="342900" indent="-342900">
              <a:buFontTx/>
              <a:buChar char="-"/>
            </a:pPr>
            <a:r>
              <a:rPr lang="en-US" sz="2000" dirty="0"/>
              <a:t>“</a:t>
            </a:r>
            <a:r>
              <a:rPr lang="en-US" sz="2000" dirty="0" err="1"/>
              <a:t>damaged_box</a:t>
            </a:r>
            <a:r>
              <a:rPr lang="en-US" sz="2000" dirty="0"/>
              <a:t>” and “</a:t>
            </a:r>
            <a:r>
              <a:rPr lang="en-US" sz="2000" dirty="0" err="1"/>
              <a:t>intact_box</a:t>
            </a:r>
            <a:r>
              <a:rPr lang="en-US" sz="2000" dirty="0"/>
              <a:t>”.</a:t>
            </a:r>
            <a:endParaRPr lang="en-US" sz="1900" dirty="0"/>
          </a:p>
          <a:p>
            <a:endParaRPr lang="en-US" sz="1900" dirty="0"/>
          </a:p>
          <a:p>
            <a:r>
              <a:rPr lang="en-US" sz="1900" b="1" dirty="0"/>
              <a:t>Preparation:</a:t>
            </a:r>
          </a:p>
          <a:p>
            <a:r>
              <a:rPr lang="en-US" sz="1900" dirty="0"/>
              <a:t>- Strategic Cleaning: Manually removing "perfect" images from the dataset to ensure a 50/50 balance between damaged and intact samples, forcing the model to learn the difference.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0513469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2AFCC5-BC27-C001-46C6-A3BE81454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B3ED9EE-DF52-0007-9D17-84DD306D9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56381E-5BE6-ADCD-213D-691DF1E4E3F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D85482A-4D1B-C3B5-259E-02E7FFC49D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7840"/>
            <a:ext cx="12191999" cy="1280160"/>
          </a:xfrm>
          <a:prstGeom prst="rect">
            <a:avLst/>
          </a:prstGeom>
          <a:solidFill>
            <a:schemeClr val="bg1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DEBFC7-0F9F-47AB-950C-E8BC5381DF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97781" y="321635"/>
            <a:ext cx="8196431" cy="960120"/>
          </a:xfrm>
          <a:ln>
            <a:noFill/>
          </a:ln>
        </p:spPr>
        <p:txBody>
          <a:bodyPr anchor="ctr">
            <a:normAutofit/>
          </a:bodyPr>
          <a:lstStyle/>
          <a:p>
            <a:pPr algn="ctr"/>
            <a:r>
              <a:rPr lang="en-US" sz="4400" dirty="0"/>
              <a:t>System Diagram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A985A4-C548-E79E-77E3-BDC3ECDC2A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2256" y="1244711"/>
            <a:ext cx="11436041" cy="5345413"/>
          </a:xfrm>
        </p:spPr>
        <p:txBody>
          <a:bodyPr anchor="ctr">
            <a:normAutofit/>
          </a:bodyPr>
          <a:lstStyle/>
          <a:p>
            <a:pPr algn="ctr"/>
            <a:r>
              <a:rPr lang="en-US" sz="1900" b="1" dirty="0"/>
              <a:t>[Input] → [Processing step 1] → [Processing step 2] → [Output]</a:t>
            </a:r>
          </a:p>
          <a:p>
            <a:r>
              <a:rPr lang="en-US" sz="1900" b="1" dirty="0"/>
              <a:t>Input:</a:t>
            </a:r>
          </a:p>
          <a:p>
            <a:pPr marL="342900" indent="-342900">
              <a:buFontTx/>
              <a:buChar char="-"/>
            </a:pPr>
            <a:r>
              <a:rPr lang="en-US" sz="1900" dirty="0"/>
              <a:t>High resolution image from warehouse camera.</a:t>
            </a:r>
          </a:p>
          <a:p>
            <a:endParaRPr lang="en-US" sz="1900" dirty="0"/>
          </a:p>
          <a:p>
            <a:r>
              <a:rPr lang="en-US" sz="1900" b="1" dirty="0"/>
              <a:t>Processing Step 1:</a:t>
            </a:r>
          </a:p>
          <a:p>
            <a:pPr marL="342900" indent="-342900">
              <a:buFontTx/>
              <a:buChar char="-"/>
            </a:pPr>
            <a:r>
              <a:rPr lang="en-US" sz="1900" dirty="0"/>
              <a:t>Pre-processing (Normalization/Grayscale or RGB).</a:t>
            </a:r>
          </a:p>
          <a:p>
            <a:endParaRPr lang="en-US" sz="1900" dirty="0"/>
          </a:p>
          <a:p>
            <a:r>
              <a:rPr lang="en-US" sz="1900" b="1" dirty="0"/>
              <a:t>Processing Step 2:</a:t>
            </a:r>
          </a:p>
          <a:p>
            <a:pPr marL="342900" indent="-342900">
              <a:buFontTx/>
              <a:buChar char="-"/>
            </a:pPr>
            <a:r>
              <a:rPr lang="en-US" sz="1900" dirty="0"/>
              <a:t>CNN Inference (The "Brain" making the decision).</a:t>
            </a:r>
          </a:p>
          <a:p>
            <a:endParaRPr lang="en-US" sz="1900" dirty="0"/>
          </a:p>
          <a:p>
            <a:r>
              <a:rPr lang="en-US" sz="1900" b="1" dirty="0"/>
              <a:t>Output:</a:t>
            </a:r>
          </a:p>
          <a:p>
            <a:r>
              <a:rPr lang="en-US" sz="1900" dirty="0"/>
              <a:t>- Classification Label + Confidence Score.</a:t>
            </a:r>
          </a:p>
        </p:txBody>
      </p:sp>
    </p:spTree>
    <p:extLst>
      <p:ext uri="{BB962C8B-B14F-4D97-AF65-F5344CB8AC3E}">
        <p14:creationId xmlns:p14="http://schemas.microsoft.com/office/powerpoint/2010/main" val="19845110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63EB29-D33B-91C3-15C2-5D3946F04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B34CF11-B411-929C-FAFF-A28A2D41D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5499F9-71B4-1CA5-A084-F15FA15BC4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540F3F6-A77C-BC7A-79F1-DE56227D10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7840"/>
            <a:ext cx="12191999" cy="1280160"/>
          </a:xfrm>
          <a:prstGeom prst="rect">
            <a:avLst/>
          </a:prstGeom>
          <a:solidFill>
            <a:schemeClr val="bg1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B6E072-C1A5-5437-7C47-C69942563E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97781" y="317608"/>
            <a:ext cx="8196431" cy="960120"/>
          </a:xfrm>
          <a:ln>
            <a:noFill/>
          </a:ln>
        </p:spPr>
        <p:txBody>
          <a:bodyPr anchor="ctr">
            <a:normAutofit/>
          </a:bodyPr>
          <a:lstStyle/>
          <a:p>
            <a:pPr algn="ctr"/>
            <a:r>
              <a:rPr lang="en-US" sz="4400" dirty="0"/>
              <a:t>Success Metrics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1856E3-3F60-2CAD-9D84-48E7392A15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6284" y="1220543"/>
            <a:ext cx="11399787" cy="5216511"/>
          </a:xfrm>
        </p:spPr>
        <p:txBody>
          <a:bodyPr anchor="ctr">
            <a:normAutofit/>
          </a:bodyPr>
          <a:lstStyle/>
          <a:p>
            <a:r>
              <a:rPr lang="en-US" sz="1900" b="1" dirty="0"/>
              <a:t>Primary Metric:</a:t>
            </a:r>
          </a:p>
          <a:p>
            <a:r>
              <a:rPr lang="en-US" sz="1900" dirty="0"/>
              <a:t>Example - Recall 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≥</a:t>
            </a:r>
            <a:r>
              <a:rPr lang="en-US" sz="1900" dirty="0"/>
              <a:t>  92%. (In logistics, it is better to "falsely" flag a good box for a human to check than to let a damaged box pass through unnoticed).</a:t>
            </a:r>
          </a:p>
          <a:p>
            <a:endParaRPr lang="en-US" sz="1900" dirty="0"/>
          </a:p>
          <a:p>
            <a:r>
              <a:rPr lang="en-US" sz="1900" b="1" dirty="0"/>
              <a:t>Secondary Metric:</a:t>
            </a:r>
          </a:p>
          <a:p>
            <a:r>
              <a:rPr lang="en-US" sz="1900" dirty="0"/>
              <a:t>Example - Inference Speed &lt; 200ms per image (to keep up with fast conveyor belts).</a:t>
            </a:r>
          </a:p>
        </p:txBody>
      </p:sp>
    </p:spTree>
    <p:extLst>
      <p:ext uri="{BB962C8B-B14F-4D97-AF65-F5344CB8AC3E}">
        <p14:creationId xmlns:p14="http://schemas.microsoft.com/office/powerpoint/2010/main" val="23862311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95F31D-15BA-B0DA-6563-1F6634F28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6AA00CB-5675-D2E3-A4F5-DC0CD0A1A4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C724B0-64C1-DBCD-7BD8-9B4D15FC8C2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19CA27F-5CC3-6349-79A7-22ED478F4A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7840"/>
            <a:ext cx="12191999" cy="1280160"/>
          </a:xfrm>
          <a:prstGeom prst="rect">
            <a:avLst/>
          </a:prstGeom>
          <a:solidFill>
            <a:schemeClr val="bg1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DBF077-158A-EC01-EDF7-EBE0337050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97781" y="317608"/>
            <a:ext cx="8196431" cy="960120"/>
          </a:xfrm>
          <a:ln>
            <a:noFill/>
          </a:ln>
        </p:spPr>
        <p:txBody>
          <a:bodyPr anchor="ctr">
            <a:normAutofit/>
          </a:bodyPr>
          <a:lstStyle/>
          <a:p>
            <a:pPr algn="ctr"/>
            <a:r>
              <a:rPr lang="en-US" sz="4400" dirty="0"/>
              <a:t>Week-By-Week Plan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8AAF6E-507B-3520-E2C9-739D56BC2A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5751" y="1329304"/>
            <a:ext cx="11033222" cy="684794"/>
          </a:xfrm>
        </p:spPr>
        <p:txBody>
          <a:bodyPr anchor="ctr">
            <a:normAutofit/>
          </a:bodyPr>
          <a:lstStyle/>
          <a:p>
            <a:pPr algn="ctr"/>
            <a:r>
              <a:rPr lang="en-US" sz="1900" dirty="0"/>
              <a:t>      Week					      Task					Milestone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26AB69-EAE5-7F7C-2401-48BFACD34D14}"/>
              </a:ext>
            </a:extLst>
          </p:cNvPr>
          <p:cNvSpPr txBox="1"/>
          <p:nvPr/>
        </p:nvSpPr>
        <p:spPr>
          <a:xfrm>
            <a:off x="535751" y="2014098"/>
            <a:ext cx="1106544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	1			  Get Dataset, set up environment 			    Dataset ready</a:t>
            </a:r>
          </a:p>
          <a:p>
            <a:r>
              <a:rPr lang="en-US" dirty="0"/>
              <a:t>        ___________________________________________________________________________________________________</a:t>
            </a:r>
          </a:p>
          <a:p>
            <a:endParaRPr lang="en-US" dirty="0"/>
          </a:p>
          <a:p>
            <a:r>
              <a:rPr lang="en-US" dirty="0"/>
              <a:t>	2 			         Train or fine-tune model 			    Model working</a:t>
            </a:r>
          </a:p>
          <a:p>
            <a:r>
              <a:rPr lang="en-US" dirty="0"/>
              <a:t>        ___________________________________________________________________________________________________</a:t>
            </a:r>
          </a:p>
          <a:p>
            <a:endParaRPr lang="en-US" dirty="0"/>
          </a:p>
          <a:p>
            <a:r>
              <a:rPr lang="en-US" dirty="0"/>
              <a:t>	3 				Test and improve 				    Good Accuracy</a:t>
            </a:r>
          </a:p>
          <a:p>
            <a:r>
              <a:rPr lang="en-US" dirty="0"/>
              <a:t>        ___________________________________________________________________________________________________</a:t>
            </a:r>
          </a:p>
          <a:p>
            <a:endParaRPr lang="en-US" dirty="0"/>
          </a:p>
          <a:p>
            <a:r>
              <a:rPr lang="en-US" dirty="0"/>
              <a:t>	4 			             Create demo or video 			       Demo ready</a:t>
            </a:r>
          </a:p>
          <a:p>
            <a:r>
              <a:rPr lang="en-US" dirty="0"/>
              <a:t>        ___________________________________________________________________________________________________</a:t>
            </a:r>
          </a:p>
          <a:p>
            <a:endParaRPr lang="en-US" dirty="0"/>
          </a:p>
          <a:p>
            <a:r>
              <a:rPr lang="en-US" dirty="0"/>
              <a:t>	5 			   Final testing and documentation 			   Everything done</a:t>
            </a:r>
          </a:p>
          <a:p>
            <a:r>
              <a:rPr lang="en-US" dirty="0"/>
              <a:t>        ___________________________________________________________________________________________________</a:t>
            </a:r>
          </a:p>
          <a:p>
            <a:endParaRPr lang="en-US" dirty="0"/>
          </a:p>
          <a:p>
            <a:r>
              <a:rPr lang="en-US" dirty="0"/>
              <a:t>	6 				Present Project 				 Presentation day</a:t>
            </a:r>
          </a:p>
        </p:txBody>
      </p:sp>
    </p:spTree>
    <p:extLst>
      <p:ext uri="{BB962C8B-B14F-4D97-AF65-F5344CB8AC3E}">
        <p14:creationId xmlns:p14="http://schemas.microsoft.com/office/powerpoint/2010/main" val="14142609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A7721A-4E74-F5BE-F52D-4B1A83532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196C07A-4227-9C2F-C777-335DEC1891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C77180-26F5-44EB-A952-B182A61E93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65788A1-12A5-1594-7747-D9A03B6EF2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7840"/>
            <a:ext cx="12191999" cy="1280160"/>
          </a:xfrm>
          <a:prstGeom prst="rect">
            <a:avLst/>
          </a:prstGeom>
          <a:solidFill>
            <a:schemeClr val="bg1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C41700-F0AA-E313-3D7E-7B4866F5BE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97781" y="361917"/>
            <a:ext cx="8196431" cy="960120"/>
          </a:xfrm>
          <a:ln>
            <a:noFill/>
          </a:ln>
        </p:spPr>
        <p:txBody>
          <a:bodyPr anchor="ctr">
            <a:normAutofit/>
          </a:bodyPr>
          <a:lstStyle/>
          <a:p>
            <a:pPr algn="ctr"/>
            <a:r>
              <a:rPr lang="en-US" sz="4400" dirty="0"/>
              <a:t>Challenges and Backup Plans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2F7012-5F80-40FD-9F72-1B386F6490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5327" y="1478347"/>
            <a:ext cx="11327281" cy="4942594"/>
          </a:xfrm>
        </p:spPr>
        <p:txBody>
          <a:bodyPr anchor="ctr">
            <a:normAutofit/>
          </a:bodyPr>
          <a:lstStyle/>
          <a:p>
            <a:r>
              <a:rPr lang="en-US" sz="1900" b="1" dirty="0"/>
              <a:t>Challenge 1: 	</a:t>
            </a:r>
            <a:r>
              <a:rPr lang="en-US" sz="1900" dirty="0"/>
              <a:t>Low-quality images in dark warehouses.</a:t>
            </a:r>
          </a:p>
          <a:p>
            <a:r>
              <a:rPr lang="en-US" sz="1900" b="1" dirty="0"/>
              <a:t>Plan B:           	</a:t>
            </a:r>
            <a:r>
              <a:rPr lang="en-US" sz="1900" dirty="0"/>
              <a:t>Use a pre-trained model and make it smarter</a:t>
            </a:r>
          </a:p>
          <a:p>
            <a:endParaRPr lang="en-US" sz="1900" b="1" dirty="0"/>
          </a:p>
          <a:p>
            <a:endParaRPr lang="en-US" sz="1900" b="1" dirty="0"/>
          </a:p>
          <a:p>
            <a:r>
              <a:rPr lang="en-US" sz="1900" b="1" dirty="0"/>
              <a:t>Challenge 2: 	</a:t>
            </a:r>
            <a:r>
              <a:rPr lang="en-US" sz="1900" dirty="0"/>
              <a:t>Subtle damage (Like a small wet spot)</a:t>
            </a:r>
          </a:p>
          <a:p>
            <a:r>
              <a:rPr lang="en-US" sz="1900" b="1" dirty="0"/>
              <a:t>Plan B: 		</a:t>
            </a:r>
            <a:r>
              <a:rPr lang="en-US" sz="1900" dirty="0"/>
              <a:t>Increase image resolution or use "Image Enhancement" filters before classification.</a:t>
            </a:r>
          </a:p>
          <a:p>
            <a:endParaRPr lang="en-US" sz="1900" dirty="0"/>
          </a:p>
        </p:txBody>
      </p:sp>
    </p:spTree>
    <p:extLst>
      <p:ext uri="{BB962C8B-B14F-4D97-AF65-F5344CB8AC3E}">
        <p14:creationId xmlns:p14="http://schemas.microsoft.com/office/powerpoint/2010/main" val="21064716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D70F4B-F644-1477-2A45-C76E685AF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77183B0-9665-79EB-9562-AA4F422FDE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6BACCA-E106-89D2-4F50-0F28177351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559C0BA-AAA5-2CC6-59E2-BFD39EC2D5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7840"/>
            <a:ext cx="12191999" cy="1280160"/>
          </a:xfrm>
          <a:prstGeom prst="rect">
            <a:avLst/>
          </a:prstGeom>
          <a:solidFill>
            <a:schemeClr val="bg1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FA7285-39FD-9BBA-5D92-635334C95C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97781" y="418567"/>
            <a:ext cx="8196431" cy="960120"/>
          </a:xfrm>
          <a:ln>
            <a:noFill/>
          </a:ln>
        </p:spPr>
        <p:txBody>
          <a:bodyPr anchor="ctr">
            <a:normAutofit/>
          </a:bodyPr>
          <a:lstStyle/>
          <a:p>
            <a:pPr algn="ctr"/>
            <a:r>
              <a:rPr lang="en-US" sz="4400" dirty="0"/>
              <a:t>Resources Needed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417C1F-F2C6-1F62-72DE-5EDBA46281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9637" y="1378687"/>
            <a:ext cx="11262830" cy="4981831"/>
          </a:xfrm>
        </p:spPr>
        <p:txBody>
          <a:bodyPr anchor="ctr">
            <a:normAutofit/>
          </a:bodyPr>
          <a:lstStyle/>
          <a:p>
            <a:r>
              <a:rPr lang="en-US" sz="1900" b="1" dirty="0"/>
              <a:t>Computing resources:</a:t>
            </a:r>
          </a:p>
          <a:p>
            <a:pPr marL="342900" indent="-342900">
              <a:buFontTx/>
              <a:buChar char="-"/>
            </a:pPr>
            <a:r>
              <a:rPr lang="en-US" sz="1900" dirty="0"/>
              <a:t>Google Co-Lab (Free GPU)</a:t>
            </a:r>
          </a:p>
          <a:p>
            <a:pPr marL="342900" indent="-342900">
              <a:buFontTx/>
              <a:buChar char="-"/>
            </a:pPr>
            <a:endParaRPr lang="en-US" sz="1900" dirty="0"/>
          </a:p>
          <a:p>
            <a:r>
              <a:rPr lang="en-US" sz="1900" b="1" dirty="0"/>
              <a:t>Frameworks:</a:t>
            </a:r>
          </a:p>
          <a:p>
            <a:pPr marL="342900" indent="-342900">
              <a:buFontTx/>
              <a:buChar char="-"/>
            </a:pPr>
            <a:r>
              <a:rPr lang="en-US" sz="1900" dirty="0" err="1"/>
              <a:t>PyTorch</a:t>
            </a:r>
            <a:r>
              <a:rPr lang="en-US" sz="1900" dirty="0"/>
              <a:t> and/or </a:t>
            </a:r>
            <a:r>
              <a:rPr lang="en-US" sz="1900" dirty="0" err="1"/>
              <a:t>Torchvision</a:t>
            </a:r>
            <a:endParaRPr lang="en-US" sz="1900" dirty="0"/>
          </a:p>
          <a:p>
            <a:pPr marL="342900" indent="-342900">
              <a:buFontTx/>
              <a:buChar char="-"/>
            </a:pPr>
            <a:endParaRPr lang="en-US" sz="1900" dirty="0"/>
          </a:p>
          <a:p>
            <a:r>
              <a:rPr lang="en-US" sz="1900" b="1" dirty="0"/>
              <a:t>Cost:</a:t>
            </a:r>
          </a:p>
          <a:p>
            <a:r>
              <a:rPr lang="en-US" sz="1900" dirty="0"/>
              <a:t>- $0</a:t>
            </a:r>
          </a:p>
        </p:txBody>
      </p:sp>
    </p:spTree>
    <p:extLst>
      <p:ext uri="{BB962C8B-B14F-4D97-AF65-F5344CB8AC3E}">
        <p14:creationId xmlns:p14="http://schemas.microsoft.com/office/powerpoint/2010/main" val="33695229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602</Words>
  <Application>Microsoft Office PowerPoint</Application>
  <PresentationFormat>Widescreen</PresentationFormat>
  <Paragraphs>94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Bierstadt</vt:lpstr>
      <vt:lpstr>Times New Roman</vt:lpstr>
      <vt:lpstr>GestaltVTI</vt:lpstr>
      <vt:lpstr>Project Proposal</vt:lpstr>
      <vt:lpstr>The Problem</vt:lpstr>
      <vt:lpstr>The Solution</vt:lpstr>
      <vt:lpstr>Technical Approach</vt:lpstr>
      <vt:lpstr>Data Plan</vt:lpstr>
      <vt:lpstr>System Diagram</vt:lpstr>
      <vt:lpstr>Success Metrics</vt:lpstr>
      <vt:lpstr>Week-By-Week Plan</vt:lpstr>
      <vt:lpstr>Challenges and Backup Plans</vt:lpstr>
      <vt:lpstr>Resources Needed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Kaplan Martinez</dc:creator>
  <cp:lastModifiedBy>Kaplan Martinez</cp:lastModifiedBy>
  <cp:revision>1</cp:revision>
  <dcterms:created xsi:type="dcterms:W3CDTF">2026-04-02T04:33:46Z</dcterms:created>
  <dcterms:modified xsi:type="dcterms:W3CDTF">2026-04-02T05:19:20Z</dcterms:modified>
</cp:coreProperties>
</file>